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4" r:id="rId7"/>
    <p:sldId id="263" r:id="rId8"/>
    <p:sldId id="266" r:id="rId9"/>
    <p:sldId id="267" r:id="rId10"/>
    <p:sldId id="268" r:id="rId11"/>
    <p:sldId id="269" r:id="rId12"/>
    <p:sldId id="270" r:id="rId13"/>
    <p:sldId id="265" r:id="rId14"/>
    <p:sldId id="271" r:id="rId15"/>
    <p:sldId id="261" r:id="rId16"/>
    <p:sldId id="262"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i2GVzQ6ylFYSL9kg7xdGVUkVHK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5565c702ff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g15565c702f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5565c702ff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g15565c702ff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647472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5565c702ff_2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15565c702ff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5565c702ff_2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8" name="Google Shape;118;g15565c702ff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a:spLocks noGrp="1"/>
          </p:cNvSpPr>
          <p:nvPr>
            <p:ph type="pic" idx="2"/>
          </p:nvPr>
        </p:nvSpPr>
        <p:spPr>
          <a:xfrm>
            <a:off x="5183188" y="987425"/>
            <a:ext cx="6172200" cy="4873625"/>
          </a:xfrm>
          <a:prstGeom prst="rect">
            <a:avLst/>
          </a:prstGeom>
          <a:noFill/>
          <a:ln>
            <a:noFill/>
          </a:ln>
        </p:spPr>
      </p:sp>
      <p:sp>
        <p:nvSpPr>
          <p:cNvPr id="64" name="Google Shape;6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kg25007.github.io/zemi/diet/die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ckg25007.github.io/zemi/yakei/"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Arial"/>
              <a:buNone/>
            </a:pPr>
            <a:r>
              <a:rPr lang="ja-JP"/>
              <a:t>予備審査</a:t>
            </a:r>
            <a:br>
              <a:rPr lang="ja-JP"/>
            </a:br>
            <a:r>
              <a:rPr lang="ja-JP"/>
              <a:t>発表</a:t>
            </a:r>
            <a:endParaRPr dirty="0"/>
          </a:p>
        </p:txBody>
      </p:sp>
      <p:sp>
        <p:nvSpPr>
          <p:cNvPr id="85" name="Google Shape;85;p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1800"/>
              <a:buNone/>
            </a:pPr>
            <a:r>
              <a:rPr lang="ja-JP" altLang="en-US" dirty="0"/>
              <a:t>２５００７＿大平凜音</a:t>
            </a:r>
            <a:endParaRPr dirty="0"/>
          </a:p>
          <a:p>
            <a:pPr marL="0" lvl="0" indent="0" algn="ctr" rtl="0">
              <a:lnSpc>
                <a:spcPct val="90000"/>
              </a:lnSpc>
              <a:spcBef>
                <a:spcPts val="1000"/>
              </a:spcBef>
              <a:spcAft>
                <a:spcPts val="0"/>
              </a:spcAft>
              <a:buClr>
                <a:schemeClr val="dk1"/>
              </a:buClr>
              <a:buSzPts val="18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dirty="0"/>
              <a:t>テーマ</a:t>
            </a:r>
            <a:endParaRPr dirty="0"/>
          </a:p>
        </p:txBody>
      </p:sp>
      <p:sp>
        <p:nvSpPr>
          <p:cNvPr id="91" name="Google Shape;91;p2"/>
          <p:cNvSpPr txBox="1">
            <a:spLocks noGrp="1"/>
          </p:cNvSpPr>
          <p:nvPr>
            <p:ph type="body" idx="1"/>
          </p:nvPr>
        </p:nvSpPr>
        <p:spPr>
          <a:xfrm>
            <a:off x="745067" y="2043716"/>
            <a:ext cx="10515600" cy="4557000"/>
          </a:xfrm>
          <a:prstGeom prst="rect">
            <a:avLst/>
          </a:prstGeom>
          <a:noFill/>
          <a:ln>
            <a:noFill/>
          </a:ln>
        </p:spPr>
        <p:txBody>
          <a:bodyPr spcFirstLastPara="1" wrap="square" lIns="91425" tIns="45700" rIns="91425" bIns="45700" anchor="t" anchorCtr="0">
            <a:normAutofit/>
          </a:bodyPr>
          <a:lstStyle/>
          <a:p>
            <a:r>
              <a:rPr lang="ja-JP" altLang="ja-JP" sz="4800" dirty="0"/>
              <a:t>13キロやせた方法webページ</a:t>
            </a:r>
            <a:endParaRPr lang="en-US" altLang="ja-JP" sz="4800" dirty="0"/>
          </a:p>
          <a:p>
            <a:endParaRPr lang="en-US" altLang="ja-JP" sz="4800" dirty="0"/>
          </a:p>
          <a:p>
            <a:endParaRPr lang="en-US" altLang="ja-JP" sz="4800" dirty="0"/>
          </a:p>
          <a:p>
            <a:r>
              <a:rPr lang="ja-JP" altLang="en-US" sz="4800" dirty="0"/>
              <a:t>福岡県の夜景紹介</a:t>
            </a:r>
            <a:endParaRPr lang="ja-JP" altLang="ja-JP" sz="4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15565c702ff_0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a:t>目次</a:t>
            </a:r>
            <a:endParaRPr/>
          </a:p>
        </p:txBody>
      </p:sp>
      <p:sp>
        <p:nvSpPr>
          <p:cNvPr id="97" name="Google Shape;97;g15565c702ff_0_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r>
              <a:rPr lang="ja-JP" altLang="ja-JP" dirty="0"/>
              <a:t>1.目的・背景</a:t>
            </a:r>
            <a:endParaRPr lang="en-US" altLang="ja-JP" dirty="0"/>
          </a:p>
          <a:p>
            <a:endParaRPr lang="ja-JP" altLang="ja-JP" dirty="0"/>
          </a:p>
          <a:p>
            <a:r>
              <a:rPr lang="ja-JP" altLang="ja-JP" dirty="0"/>
              <a:t>2.作品・研究の概要</a:t>
            </a:r>
            <a:endParaRPr lang="en-US" altLang="ja-JP" dirty="0"/>
          </a:p>
          <a:p>
            <a:endParaRPr lang="ja-JP" altLang="ja-JP" dirty="0"/>
          </a:p>
          <a:p>
            <a:r>
              <a:rPr lang="ja-JP" altLang="ja-JP" dirty="0"/>
              <a:t>3. </a:t>
            </a:r>
            <a:r>
              <a:rPr lang="ja-JP" altLang="en-US" dirty="0"/>
              <a:t>今の状況、</a:t>
            </a:r>
            <a:r>
              <a:rPr lang="ja-JP" altLang="ja-JP" dirty="0"/>
              <a:t>今後の流れ</a:t>
            </a:r>
            <a:endParaRPr lang="en-US" altLang="ja-JP" dirty="0"/>
          </a:p>
          <a:p>
            <a:endParaRPr lang="ja-JP" altLang="ja-JP" dirty="0"/>
          </a:p>
          <a:p>
            <a:r>
              <a:rPr lang="ja-JP" altLang="ja-JP" dirty="0"/>
              <a:t>4.制作・研究方法</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lvl="0">
              <a:buSzPts val="4400"/>
            </a:pPr>
            <a:r>
              <a:rPr lang="ja-JP" altLang="ja-JP" dirty="0"/>
              <a:t>制作①</a:t>
            </a:r>
            <a:r>
              <a:rPr lang="ja-JP" dirty="0"/>
              <a:t>目的・背景</a:t>
            </a:r>
            <a:endParaRPr dirty="0"/>
          </a:p>
        </p:txBody>
      </p:sp>
      <p:sp>
        <p:nvSpPr>
          <p:cNvPr id="103" name="Google Shape;10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r>
              <a:rPr lang="ja-JP" altLang="ja-JP" dirty="0"/>
              <a:t>健康的な体になりたい・かっこよくなりたい・もてたいとおもっている人に向けて、減量や筋力トレーニングの方法をわかりやすく紹介。</a:t>
            </a:r>
            <a:endParaRPr lang="en-US" altLang="ja-JP" dirty="0"/>
          </a:p>
          <a:p>
            <a:endParaRPr lang="ja-JP" altLang="ja-JP" dirty="0"/>
          </a:p>
          <a:p>
            <a:r>
              <a:rPr lang="ja-JP" altLang="en-US" dirty="0"/>
              <a:t>背景</a:t>
            </a:r>
            <a:r>
              <a:rPr lang="en-US" altLang="ja-JP" dirty="0"/>
              <a:t>:</a:t>
            </a:r>
            <a:r>
              <a:rPr lang="ja-JP" altLang="ja-JP" dirty="0"/>
              <a:t>ダイエットしたい・したのに1か月も続けられず挫折してしまう人が多いので、一歩踏み出すきっかけや続けるためのコツなどをダイエット成功した（現在もやっている）　経験から伝えたい。</a:t>
            </a:r>
            <a:br>
              <a:rPr lang="ja-JP" altLang="ja-JP" dirty="0"/>
            </a:b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15565c702ff_2_0"/>
          <p:cNvSpPr txBox="1">
            <a:spLocks noGrp="1"/>
          </p:cNvSpPr>
          <p:nvPr>
            <p:ph type="title"/>
          </p:nvPr>
        </p:nvSpPr>
        <p:spPr>
          <a:xfrm>
            <a:off x="838200" y="365125"/>
            <a:ext cx="10515600" cy="1325563"/>
          </a:xfrm>
        </p:spPr>
        <p:txBody>
          <a:bodyPr spcFirstLastPara="1" wrap="square" lIns="91425" tIns="45700" rIns="91425" bIns="45700" anchor="ctr" anchorCtr="0">
            <a:normAutofit/>
          </a:bodyPr>
          <a:lstStyle/>
          <a:p>
            <a:pPr marL="0" lvl="0" indent="0" rtl="0">
              <a:spcBef>
                <a:spcPts val="0"/>
              </a:spcBef>
              <a:spcAft>
                <a:spcPts val="0"/>
              </a:spcAft>
              <a:buClr>
                <a:schemeClr val="dk1"/>
              </a:buClr>
              <a:buSzPts val="4400"/>
              <a:buFont typeface="Arial"/>
              <a:buNone/>
            </a:pPr>
            <a:r>
              <a:rPr lang="ja-JP" altLang="en-US" dirty="0"/>
              <a:t>制作①</a:t>
            </a:r>
            <a:r>
              <a:rPr lang="ja-JP" dirty="0"/>
              <a:t>作品・研究の概要</a:t>
            </a:r>
            <a:endParaRPr lang="ja-JP" altLang="en-US" dirty="0"/>
          </a:p>
        </p:txBody>
      </p:sp>
      <p:sp>
        <p:nvSpPr>
          <p:cNvPr id="109" name="Google Shape;109;g15565c702ff_2_0"/>
          <p:cNvSpPr txBox="1">
            <a:spLocks noGrp="1"/>
          </p:cNvSpPr>
          <p:nvPr>
            <p:ph type="body" idx="4294967295"/>
          </p:nvPr>
        </p:nvSpPr>
        <p:spPr>
          <a:xfrm>
            <a:off x="838200" y="1881188"/>
            <a:ext cx="5801226" cy="4976812"/>
          </a:xfrm>
        </p:spPr>
        <p:txBody>
          <a:bodyPr spcFirstLastPara="1" lIns="91425" tIns="45700" rIns="91425" bIns="45700" anchor="t" anchorCtr="0">
            <a:normAutofit/>
          </a:bodyPr>
          <a:lstStyle/>
          <a:p>
            <a:pPr marL="228600" lvl="0" indent="-50800">
              <a:spcBef>
                <a:spcPts val="0"/>
              </a:spcBef>
              <a:spcAft>
                <a:spcPts val="600"/>
              </a:spcAft>
              <a:buClr>
                <a:srgbClr val="000000"/>
              </a:buClr>
              <a:buSzPts val="2800"/>
              <a:buFont typeface="Arial"/>
              <a:buNone/>
            </a:pPr>
            <a:r>
              <a:rPr lang="ja-JP" altLang="en-US" b="1" i="0" u="none" strike="noStrike" cap="none" spc="0" dirty="0"/>
              <a:t>ダイエットの需要について</a:t>
            </a:r>
            <a:endParaRPr lang="en-US" altLang="ja-JP" b="1" i="0" u="none" strike="noStrike" cap="none" spc="0" dirty="0"/>
          </a:p>
          <a:p>
            <a:pPr marL="228600" lvl="0" indent="-50800">
              <a:spcBef>
                <a:spcPts val="0"/>
              </a:spcBef>
              <a:spcAft>
                <a:spcPts val="600"/>
              </a:spcAft>
              <a:buClr>
                <a:srgbClr val="000000"/>
              </a:buClr>
              <a:buSzPts val="2800"/>
              <a:buFont typeface="Arial"/>
              <a:buNone/>
            </a:pPr>
            <a:endParaRPr lang="en-US" altLang="ja-JP" sz="1800" b="0" i="0" u="none" strike="noStrike" cap="none" spc="0" dirty="0"/>
          </a:p>
          <a:p>
            <a:pPr marL="228600" lvl="0" indent="-50800">
              <a:spcBef>
                <a:spcPts val="0"/>
              </a:spcBef>
              <a:spcAft>
                <a:spcPts val="600"/>
              </a:spcAft>
              <a:buClr>
                <a:srgbClr val="000000"/>
              </a:buClr>
              <a:buSzPts val="2800"/>
              <a:buFont typeface="Arial"/>
              <a:buNone/>
            </a:pPr>
            <a:endParaRPr lang="en-US" altLang="ja-JP" sz="1800" b="0" i="0" u="none" strike="noStrike" cap="none" spc="0" dirty="0"/>
          </a:p>
          <a:p>
            <a:pPr>
              <a:spcBef>
                <a:spcPts val="0"/>
              </a:spcBef>
              <a:spcAft>
                <a:spcPts val="600"/>
              </a:spcAft>
              <a:buClr>
                <a:srgbClr val="000000"/>
              </a:buClr>
            </a:pPr>
            <a:r>
              <a:rPr lang="ja-JP" altLang="en-US" sz="1800" b="0" i="0" u="none" strike="noStrike" cap="none" spc="0" dirty="0"/>
              <a:t>参考資料：「糖質制限ダイエットに関する意識・実態調査」</a:t>
            </a:r>
          </a:p>
          <a:p>
            <a:pPr>
              <a:spcBef>
                <a:spcPts val="0"/>
              </a:spcBef>
              <a:spcAft>
                <a:spcPts val="600"/>
              </a:spcAft>
              <a:buClr>
                <a:srgbClr val="000000"/>
              </a:buClr>
            </a:pPr>
            <a:r>
              <a:rPr lang="ja-JP" altLang="en-US" sz="1800" b="0" i="0" u="none" strike="noStrike" cap="none" spc="0" dirty="0"/>
              <a:t>（トレンド総研・日清オイリオグループ共同調査）</a:t>
            </a:r>
            <a:endParaRPr lang="en-US" altLang="ja-JP" sz="1800" b="0" i="0" u="none" strike="noStrike" cap="none" spc="0" dirty="0"/>
          </a:p>
          <a:p>
            <a:pPr lvl="0">
              <a:spcBef>
                <a:spcPts val="0"/>
              </a:spcBef>
              <a:spcAft>
                <a:spcPts val="600"/>
              </a:spcAft>
              <a:buClr>
                <a:srgbClr val="000000"/>
              </a:buClr>
            </a:pPr>
            <a:r>
              <a:rPr lang="ja-JP" altLang="en-US" sz="1800" b="0" i="0" u="none" strike="noStrike" cap="none" spc="0" dirty="0"/>
              <a:t>調査対象：過去</a:t>
            </a:r>
            <a:r>
              <a:rPr lang="en-US" altLang="ja-JP" sz="1800" b="0" i="0" u="none" strike="noStrike" cap="none" spc="0" dirty="0"/>
              <a:t>1</a:t>
            </a:r>
            <a:r>
              <a:rPr lang="ja-JP" altLang="en-US" sz="1800" b="0" i="0" u="none" strike="noStrike" cap="none" spc="0" dirty="0"/>
              <a:t>年以内にダイエット経験がある</a:t>
            </a:r>
            <a:r>
              <a:rPr lang="en-US" altLang="ja-JP" sz="1800" b="0" i="0" u="none" strike="noStrike" cap="none" spc="0" dirty="0"/>
              <a:t>20〜40</a:t>
            </a:r>
            <a:r>
              <a:rPr lang="ja-JP" altLang="en-US" sz="1800" b="0" i="0" u="none" strike="noStrike" cap="none" spc="0" dirty="0"/>
              <a:t>代女性</a:t>
            </a:r>
            <a:r>
              <a:rPr lang="en-US" altLang="ja-JP" sz="1800" b="0" i="0" u="none" strike="noStrike" cap="none" spc="0" dirty="0"/>
              <a:t>500</a:t>
            </a:r>
            <a:r>
              <a:rPr lang="ja-JP" altLang="en-US" sz="1800" b="0" i="0" u="none" strike="noStrike" cap="none" spc="0" dirty="0"/>
              <a:t>名 </a:t>
            </a:r>
          </a:p>
          <a:p>
            <a:pPr lvl="0">
              <a:spcBef>
                <a:spcPts val="0"/>
              </a:spcBef>
              <a:spcAft>
                <a:spcPts val="600"/>
              </a:spcAft>
              <a:buClr>
                <a:srgbClr val="000000"/>
              </a:buClr>
            </a:pPr>
            <a:r>
              <a:rPr lang="ja-JP" altLang="en-US" sz="1800" b="0" i="0" u="none" strike="noStrike" cap="none" spc="0" dirty="0"/>
              <a:t>糖質制限ダイエットを経験したことがある人：約</a:t>
            </a:r>
            <a:r>
              <a:rPr lang="en-US" altLang="ja-JP" sz="1800" b="0" i="0" u="none" strike="noStrike" cap="none" spc="0" dirty="0"/>
              <a:t>56</a:t>
            </a:r>
            <a:r>
              <a:rPr lang="ja-JP" altLang="en-US" sz="1800" b="0" i="0" u="none" strike="noStrike" cap="none" spc="0" dirty="0"/>
              <a:t>％ </a:t>
            </a:r>
          </a:p>
          <a:p>
            <a:pPr lvl="0">
              <a:spcBef>
                <a:spcPts val="0"/>
              </a:spcBef>
              <a:spcAft>
                <a:spcPts val="600"/>
              </a:spcAft>
              <a:buClr>
                <a:srgbClr val="000000"/>
              </a:buClr>
            </a:pPr>
            <a:r>
              <a:rPr lang="ja-JP" altLang="en-US" sz="1800" b="0" i="0" u="none" strike="noStrike" cap="none" spc="0" dirty="0"/>
              <a:t>流行したダイエット方法として「糖質制限ダイエット」が</a:t>
            </a:r>
            <a:r>
              <a:rPr lang="en-US" altLang="ja-JP" sz="1800" b="0" i="0" u="none" strike="noStrike" cap="none" spc="0" dirty="0"/>
              <a:t>81</a:t>
            </a:r>
            <a:r>
              <a:rPr lang="ja-JP" altLang="en-US" sz="1800" b="0" i="0" u="none" strike="noStrike" cap="none" spc="0" dirty="0"/>
              <a:t>％で最も多かった</a:t>
            </a:r>
            <a:endParaRPr lang="en-US" altLang="ja-JP" sz="1800" b="0" i="0" u="none" strike="noStrike" cap="none" spc="0" dirty="0"/>
          </a:p>
          <a:p>
            <a:pPr marL="50800" indent="0">
              <a:spcBef>
                <a:spcPts val="0"/>
              </a:spcBef>
              <a:spcAft>
                <a:spcPts val="600"/>
              </a:spcAft>
              <a:buClr>
                <a:srgbClr val="000000"/>
              </a:buClr>
              <a:buNone/>
            </a:pPr>
            <a:r>
              <a:rPr lang="ja-JP" altLang="ja-JP" sz="1800" b="1" dirty="0">
                <a:solidFill>
                  <a:schemeClr val="tx1"/>
                </a:solidFill>
              </a:rPr>
              <a:t>この結果から、多くの人がダイエットに関心を持ち、実際に取り組んでいることが分かる</a:t>
            </a:r>
            <a:r>
              <a:rPr lang="ja-JP" altLang="ja-JP" sz="1300" dirty="0"/>
              <a:t>。</a:t>
            </a:r>
          </a:p>
          <a:p>
            <a:pPr lvl="0">
              <a:spcBef>
                <a:spcPts val="0"/>
              </a:spcBef>
              <a:spcAft>
                <a:spcPts val="600"/>
              </a:spcAft>
              <a:buClr>
                <a:srgbClr val="000000"/>
              </a:buClr>
            </a:pPr>
            <a:endParaRPr lang="ja-JP" altLang="en-US" sz="1800" b="0" i="0" u="none" strike="noStrike" cap="none" spc="0" dirty="0"/>
          </a:p>
          <a:p>
            <a:pPr marL="228600" lvl="0" indent="-50800">
              <a:spcBef>
                <a:spcPts val="0"/>
              </a:spcBef>
              <a:spcAft>
                <a:spcPts val="600"/>
              </a:spcAft>
              <a:buClr>
                <a:srgbClr val="000000"/>
              </a:buClr>
              <a:buSzPts val="2800"/>
              <a:buFont typeface="Arial"/>
              <a:buNone/>
            </a:pPr>
            <a:endParaRPr lang="en-US" sz="1800" b="0" i="0" u="none" strike="noStrike" cap="none" spc="0" dirty="0"/>
          </a:p>
        </p:txBody>
      </p:sp>
      <p:pic>
        <p:nvPicPr>
          <p:cNvPr id="10" name="図 9">
            <a:extLst>
              <a:ext uri="{FF2B5EF4-FFF2-40B4-BE49-F238E27FC236}">
                <a16:creationId xmlns:a16="http://schemas.microsoft.com/office/drawing/2014/main" id="{9FDFDB49-6C59-605D-1FFE-AF730A672D93}"/>
              </a:ext>
            </a:extLst>
          </p:cNvPr>
          <p:cNvPicPr>
            <a:picLocks noChangeAspect="1"/>
          </p:cNvPicPr>
          <p:nvPr/>
        </p:nvPicPr>
        <p:blipFill>
          <a:blip r:embed="rId3">
            <a:extLst>
              <a:ext uri="{28A0092B-C50C-407E-A947-70E740481C1C}">
                <a14:useLocalDpi xmlns:a14="http://schemas.microsoft.com/office/drawing/2010/main" val="0"/>
              </a:ext>
            </a:extLst>
          </a:blip>
          <a:srcRect t="1368" r="1" b="18107"/>
          <a:stretch>
            <a:fillRect/>
          </a:stretch>
        </p:blipFill>
        <p:spPr>
          <a:xfrm>
            <a:off x="6639426" y="1690687"/>
            <a:ext cx="5067300" cy="46459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27521C-774C-987F-0D3C-44F21BC5BA2B}"/>
              </a:ext>
            </a:extLst>
          </p:cNvPr>
          <p:cNvSpPr>
            <a:spLocks noGrp="1"/>
          </p:cNvSpPr>
          <p:nvPr>
            <p:ph type="title"/>
          </p:nvPr>
        </p:nvSpPr>
        <p:spPr/>
        <p:txBody>
          <a:bodyPr/>
          <a:lstStyle/>
          <a:p>
            <a:r>
              <a:rPr lang="ja-JP" altLang="en-US" dirty="0"/>
              <a:t>制作①</a:t>
            </a:r>
            <a:r>
              <a:rPr lang="ja-JP" altLang="ja-JP" dirty="0"/>
              <a:t>作品・研究の概要</a:t>
            </a:r>
            <a:endParaRPr kumimoji="1" lang="ja-JP" altLang="en-US" dirty="0"/>
          </a:p>
        </p:txBody>
      </p:sp>
      <p:sp>
        <p:nvSpPr>
          <p:cNvPr id="3" name="テキスト プレースホルダー 2">
            <a:extLst>
              <a:ext uri="{FF2B5EF4-FFF2-40B4-BE49-F238E27FC236}">
                <a16:creationId xmlns:a16="http://schemas.microsoft.com/office/drawing/2014/main" id="{51FEC5F5-161D-2977-8324-E0695BE947F1}"/>
              </a:ext>
            </a:extLst>
          </p:cNvPr>
          <p:cNvSpPr>
            <a:spLocks noGrp="1"/>
          </p:cNvSpPr>
          <p:nvPr>
            <p:ph type="body" idx="1"/>
          </p:nvPr>
        </p:nvSpPr>
        <p:spPr>
          <a:xfrm>
            <a:off x="838200" y="1825625"/>
            <a:ext cx="10515600" cy="3580564"/>
          </a:xfrm>
        </p:spPr>
        <p:txBody>
          <a:bodyPr/>
          <a:lstStyle/>
          <a:p>
            <a:pPr marL="114300" indent="0">
              <a:buNone/>
            </a:pPr>
            <a:r>
              <a:rPr lang="ja-JP" altLang="ja-JP" b="1" dirty="0"/>
              <a:t>ダイエットをする目的</a:t>
            </a:r>
            <a:endParaRPr lang="ja-JP" altLang="ja-JP" dirty="0"/>
          </a:p>
          <a:p>
            <a:pPr lvl="0"/>
            <a:r>
              <a:rPr lang="ja-JP" altLang="ja-JP" dirty="0"/>
              <a:t>健康的な体を作るため </a:t>
            </a:r>
          </a:p>
          <a:p>
            <a:pPr lvl="0"/>
            <a:r>
              <a:rPr lang="ja-JP" altLang="ja-JP" dirty="0"/>
              <a:t>見た目を改善するため </a:t>
            </a:r>
          </a:p>
          <a:p>
            <a:pPr lvl="0"/>
            <a:r>
              <a:rPr lang="ja-JP" altLang="ja-JP" dirty="0"/>
              <a:t>自分に自信を持つため </a:t>
            </a:r>
          </a:p>
          <a:p>
            <a:pPr lvl="0"/>
            <a:r>
              <a:rPr lang="ja-JP" altLang="ja-JP" dirty="0"/>
              <a:t>生活習慣を改善するため </a:t>
            </a:r>
          </a:p>
          <a:p>
            <a:r>
              <a:rPr lang="ja-JP" altLang="ja-JP" dirty="0"/>
              <a:t>などがある</a:t>
            </a:r>
            <a:endParaRPr kumimoji="1" lang="ja-JP" altLang="en-US" dirty="0"/>
          </a:p>
        </p:txBody>
      </p:sp>
    </p:spTree>
    <p:extLst>
      <p:ext uri="{BB962C8B-B14F-4D97-AF65-F5344CB8AC3E}">
        <p14:creationId xmlns:p14="http://schemas.microsoft.com/office/powerpoint/2010/main" val="4067188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45B3C3-0162-FFA4-4CDB-EC7029BA8F70}"/>
              </a:ext>
            </a:extLst>
          </p:cNvPr>
          <p:cNvSpPr>
            <a:spLocks noGrp="1"/>
          </p:cNvSpPr>
          <p:nvPr>
            <p:ph type="title"/>
          </p:nvPr>
        </p:nvSpPr>
        <p:spPr/>
        <p:txBody>
          <a:bodyPr/>
          <a:lstStyle/>
          <a:p>
            <a:r>
              <a:rPr lang="ja-JP" altLang="en-US" dirty="0"/>
              <a:t>作品①</a:t>
            </a:r>
            <a:r>
              <a:rPr lang="ja-JP" altLang="ja-JP" dirty="0"/>
              <a:t>作品・研究の概要</a:t>
            </a:r>
            <a:endParaRPr kumimoji="1" lang="ja-JP" altLang="en-US" dirty="0"/>
          </a:p>
        </p:txBody>
      </p:sp>
      <p:sp>
        <p:nvSpPr>
          <p:cNvPr id="3" name="テキスト プレースホルダー 2">
            <a:extLst>
              <a:ext uri="{FF2B5EF4-FFF2-40B4-BE49-F238E27FC236}">
                <a16:creationId xmlns:a16="http://schemas.microsoft.com/office/drawing/2014/main" id="{B38F0CBD-4FCD-C213-B709-B20E6573480D}"/>
              </a:ext>
            </a:extLst>
          </p:cNvPr>
          <p:cNvSpPr>
            <a:spLocks noGrp="1"/>
          </p:cNvSpPr>
          <p:nvPr>
            <p:ph type="body" idx="1"/>
          </p:nvPr>
        </p:nvSpPr>
        <p:spPr>
          <a:xfrm>
            <a:off x="838200" y="1450057"/>
            <a:ext cx="5530516" cy="795838"/>
          </a:xfrm>
        </p:spPr>
        <p:txBody>
          <a:bodyPr/>
          <a:lstStyle/>
          <a:p>
            <a:pPr marL="114300" indent="0">
              <a:buNone/>
            </a:pPr>
            <a:r>
              <a:rPr lang="ja-JP" altLang="ja-JP" b="1" dirty="0">
                <a:solidFill>
                  <a:srgbClr val="FF0000"/>
                </a:solidFill>
              </a:rPr>
              <a:t>ダイエットをした人が当たる壁</a:t>
            </a:r>
            <a:endParaRPr lang="ja-JP" altLang="ja-JP" dirty="0">
              <a:solidFill>
                <a:srgbClr val="FF0000"/>
              </a:solidFill>
            </a:endParaRPr>
          </a:p>
          <a:p>
            <a:endParaRPr kumimoji="1" lang="ja-JP" altLang="en-US" dirty="0"/>
          </a:p>
        </p:txBody>
      </p:sp>
      <p:sp>
        <p:nvSpPr>
          <p:cNvPr id="4" name="テキスト ボックス 3">
            <a:extLst>
              <a:ext uri="{FF2B5EF4-FFF2-40B4-BE49-F238E27FC236}">
                <a16:creationId xmlns:a16="http://schemas.microsoft.com/office/drawing/2014/main" id="{CCDF20CA-0CB9-1254-0E20-0DE6A6059732}"/>
              </a:ext>
            </a:extLst>
          </p:cNvPr>
          <p:cNvSpPr txBox="1"/>
          <p:nvPr/>
        </p:nvSpPr>
        <p:spPr>
          <a:xfrm>
            <a:off x="838200" y="2411503"/>
            <a:ext cx="10964779" cy="4401205"/>
          </a:xfrm>
          <a:prstGeom prst="rect">
            <a:avLst/>
          </a:prstGeom>
          <a:noFill/>
        </p:spPr>
        <p:txBody>
          <a:bodyPr wrap="square" rtlCol="0">
            <a:spAutoFit/>
          </a:bodyPr>
          <a:lstStyle/>
          <a:p>
            <a:r>
              <a:rPr lang="ja-JP" altLang="ja-JP" sz="2800" dirty="0"/>
              <a:t>目標体重に到達できず途中で挫折する人も多く、経験者の</a:t>
            </a:r>
            <a:r>
              <a:rPr lang="en-US" altLang="ja-JP" sz="2800" dirty="0"/>
              <a:t>80</a:t>
            </a:r>
            <a:r>
              <a:rPr lang="ja-JP" altLang="ja-JP" sz="2800" dirty="0"/>
              <a:t>％が「目標達成前に挫折したことがある」と回答している。</a:t>
            </a:r>
          </a:p>
          <a:p>
            <a:r>
              <a:rPr lang="en-US" altLang="ja-JP" sz="2800" dirty="0"/>
              <a:t> </a:t>
            </a:r>
            <a:endParaRPr lang="ja-JP" altLang="ja-JP" sz="2800" dirty="0"/>
          </a:p>
          <a:p>
            <a:r>
              <a:rPr lang="ja-JP" altLang="ja-JP" sz="2800" dirty="0"/>
              <a:t>その理由として、</a:t>
            </a:r>
          </a:p>
          <a:p>
            <a:pPr lvl="0"/>
            <a:r>
              <a:rPr lang="ja-JP" altLang="en-US" sz="2800" dirty="0"/>
              <a:t>・</a:t>
            </a:r>
            <a:r>
              <a:rPr lang="ja-JP" altLang="ja-JP" sz="2800" dirty="0"/>
              <a:t>食事制限によるストレス（</a:t>
            </a:r>
            <a:r>
              <a:rPr lang="en-US" altLang="ja-JP" sz="2800" dirty="0"/>
              <a:t>79</a:t>
            </a:r>
            <a:r>
              <a:rPr lang="ja-JP" altLang="ja-JP" sz="2800" dirty="0"/>
              <a:t>％）</a:t>
            </a:r>
          </a:p>
          <a:p>
            <a:pPr lvl="0"/>
            <a:r>
              <a:rPr lang="ja-JP" altLang="en-US" sz="2800" dirty="0"/>
              <a:t>・</a:t>
            </a:r>
            <a:r>
              <a:rPr lang="ja-JP" altLang="ja-JP" sz="2800" dirty="0"/>
              <a:t>食欲のコントロールの難しさ（</a:t>
            </a:r>
            <a:r>
              <a:rPr lang="en-US" altLang="ja-JP" sz="2800" dirty="0"/>
              <a:t>75</a:t>
            </a:r>
            <a:r>
              <a:rPr lang="ja-JP" altLang="ja-JP" sz="2800" dirty="0"/>
              <a:t>％） </a:t>
            </a:r>
          </a:p>
          <a:p>
            <a:pPr lvl="0"/>
            <a:r>
              <a:rPr lang="ja-JP" altLang="en-US" sz="2800" dirty="0"/>
              <a:t>・</a:t>
            </a:r>
            <a:r>
              <a:rPr lang="ja-JP" altLang="ja-JP" sz="2800" dirty="0"/>
              <a:t>食事の楽しみが減ること（</a:t>
            </a:r>
            <a:r>
              <a:rPr lang="en-US" altLang="ja-JP" sz="2800" dirty="0"/>
              <a:t>69</a:t>
            </a:r>
            <a:r>
              <a:rPr lang="ja-JP" altLang="ja-JP" sz="2800" dirty="0"/>
              <a:t>％） </a:t>
            </a:r>
          </a:p>
          <a:p>
            <a:r>
              <a:rPr lang="ja-JP" altLang="ja-JP" sz="2800" dirty="0"/>
              <a:t>などが挙げられており、無理な制限ではなく、継続できる方法が重要であることが分かった。</a:t>
            </a:r>
            <a:endParaRPr lang="ja-JP" altLang="ja-JP" sz="2800" b="1" dirty="0"/>
          </a:p>
          <a:p>
            <a:endParaRPr lang="ja-JP" altLang="ja-JP" dirty="0"/>
          </a:p>
          <a:p>
            <a:endParaRPr kumimoji="1" lang="ja-JP" altLang="en-US" dirty="0"/>
          </a:p>
        </p:txBody>
      </p:sp>
    </p:spTree>
    <p:extLst>
      <p:ext uri="{BB962C8B-B14F-4D97-AF65-F5344CB8AC3E}">
        <p14:creationId xmlns:p14="http://schemas.microsoft.com/office/powerpoint/2010/main" val="4177245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23870-3E47-C80C-F99E-F9C767E474E4}"/>
              </a:ext>
            </a:extLst>
          </p:cNvPr>
          <p:cNvSpPr>
            <a:spLocks noGrp="1"/>
          </p:cNvSpPr>
          <p:nvPr>
            <p:ph type="title"/>
          </p:nvPr>
        </p:nvSpPr>
        <p:spPr/>
        <p:txBody>
          <a:bodyPr/>
          <a:lstStyle/>
          <a:p>
            <a:r>
              <a:rPr lang="ja-JP" altLang="en-US" dirty="0"/>
              <a:t>制作①</a:t>
            </a:r>
            <a:r>
              <a:rPr lang="ja-JP" altLang="ja-JP" dirty="0"/>
              <a:t>作品・研究の概要</a:t>
            </a:r>
            <a:endParaRPr kumimoji="1" lang="ja-JP" altLang="en-US" dirty="0"/>
          </a:p>
        </p:txBody>
      </p:sp>
      <p:sp>
        <p:nvSpPr>
          <p:cNvPr id="3" name="テキスト プレースホルダー 2">
            <a:extLst>
              <a:ext uri="{FF2B5EF4-FFF2-40B4-BE49-F238E27FC236}">
                <a16:creationId xmlns:a16="http://schemas.microsoft.com/office/drawing/2014/main" id="{CF8FE0DD-481E-8D3C-06AE-0F4AF7728DAC}"/>
              </a:ext>
            </a:extLst>
          </p:cNvPr>
          <p:cNvSpPr>
            <a:spLocks noGrp="1"/>
          </p:cNvSpPr>
          <p:nvPr>
            <p:ph type="body" idx="1"/>
          </p:nvPr>
        </p:nvSpPr>
        <p:spPr>
          <a:xfrm>
            <a:off x="524933" y="1825625"/>
            <a:ext cx="11282055" cy="4667250"/>
          </a:xfrm>
        </p:spPr>
        <p:txBody>
          <a:bodyPr>
            <a:normAutofit lnSpcReduction="10000"/>
          </a:bodyPr>
          <a:lstStyle/>
          <a:p>
            <a:r>
              <a:rPr lang="en-US" altLang="ja-JP" dirty="0"/>
              <a:t>Web</a:t>
            </a:r>
            <a:r>
              <a:rPr lang="ja-JP" altLang="ja-JP" dirty="0"/>
              <a:t>ページ制作</a:t>
            </a:r>
            <a:r>
              <a:rPr lang="ja-JP" altLang="en-US" dirty="0"/>
              <a:t>（</a:t>
            </a:r>
            <a:r>
              <a:rPr lang="ja-JP" altLang="ja-JP" dirty="0"/>
              <a:t>内容）</a:t>
            </a:r>
            <a:endParaRPr lang="en-US" altLang="ja-JP" dirty="0"/>
          </a:p>
          <a:p>
            <a:endParaRPr lang="ja-JP" altLang="ja-JP" dirty="0"/>
          </a:p>
          <a:p>
            <a:pPr marL="114300" indent="0">
              <a:buNone/>
            </a:pPr>
            <a:r>
              <a:rPr lang="ja-JP" altLang="ja-JP" dirty="0"/>
              <a:t>・おすすめの食事管理・筋力トレーニング・有酸素運動を紹介</a:t>
            </a:r>
            <a:endParaRPr lang="en-US" altLang="ja-JP" dirty="0"/>
          </a:p>
          <a:p>
            <a:endParaRPr lang="ja-JP" altLang="ja-JP" dirty="0"/>
          </a:p>
          <a:p>
            <a:pPr marL="114300" indent="0">
              <a:buNone/>
            </a:pPr>
            <a:r>
              <a:rPr lang="ja-JP" altLang="ja-JP" dirty="0"/>
              <a:t>・実際の食事の例を掲載</a:t>
            </a:r>
            <a:endParaRPr lang="en-US" altLang="ja-JP" dirty="0"/>
          </a:p>
          <a:p>
            <a:endParaRPr lang="ja-JP" altLang="ja-JP" dirty="0"/>
          </a:p>
          <a:p>
            <a:r>
              <a:rPr lang="ja-JP" altLang="ja-JP" dirty="0"/>
              <a:t>おすすめの食材のランキングやメニューのランキングを掲載。</a:t>
            </a:r>
            <a:endParaRPr lang="en-US" altLang="ja-JP" dirty="0"/>
          </a:p>
          <a:p>
            <a:endParaRPr lang="en-US" altLang="ja-JP" dirty="0"/>
          </a:p>
          <a:p>
            <a:pPr marL="114300" indent="0">
              <a:buNone/>
            </a:pPr>
            <a:r>
              <a:rPr kumimoji="1" lang="en-US" altLang="ja-JP" dirty="0">
                <a:hlinkClick r:id="rId3"/>
              </a:rPr>
              <a:t>13</a:t>
            </a:r>
            <a:r>
              <a:rPr kumimoji="1" lang="ja-JP" altLang="en-US" dirty="0">
                <a:hlinkClick r:id="rId3"/>
              </a:rPr>
              <a:t>キロやせた方法</a:t>
            </a:r>
            <a:endParaRPr kumimoji="1" lang="en-US" altLang="ja-JP" dirty="0"/>
          </a:p>
          <a:p>
            <a:pPr marL="114300" indent="0">
              <a:buNone/>
            </a:pPr>
            <a:endParaRPr kumimoji="1" lang="ja-JP" altLang="en-US" dirty="0"/>
          </a:p>
        </p:txBody>
      </p:sp>
    </p:spTree>
    <p:extLst>
      <p:ext uri="{BB962C8B-B14F-4D97-AF65-F5344CB8AC3E}">
        <p14:creationId xmlns:p14="http://schemas.microsoft.com/office/powerpoint/2010/main" val="4272875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D68820-9BA7-FB14-CBC4-75AA45788A2F}"/>
              </a:ext>
            </a:extLst>
          </p:cNvPr>
          <p:cNvSpPr>
            <a:spLocks noGrp="1"/>
          </p:cNvSpPr>
          <p:nvPr>
            <p:ph type="title"/>
          </p:nvPr>
        </p:nvSpPr>
        <p:spPr/>
        <p:txBody>
          <a:bodyPr/>
          <a:lstStyle/>
          <a:p>
            <a:r>
              <a:rPr lang="ja-JP" altLang="ja-JP" dirty="0"/>
              <a:t>制作</a:t>
            </a:r>
            <a:r>
              <a:rPr lang="ja-JP" altLang="en-US" dirty="0"/>
              <a:t>②</a:t>
            </a:r>
            <a:r>
              <a:rPr lang="ja-JP" altLang="ja-JP" dirty="0"/>
              <a:t>目的・背景</a:t>
            </a:r>
            <a:endParaRPr kumimoji="1" lang="ja-JP" altLang="en-US" dirty="0"/>
          </a:p>
        </p:txBody>
      </p:sp>
      <p:sp>
        <p:nvSpPr>
          <p:cNvPr id="3" name="テキスト プレースホルダー 2">
            <a:extLst>
              <a:ext uri="{FF2B5EF4-FFF2-40B4-BE49-F238E27FC236}">
                <a16:creationId xmlns:a16="http://schemas.microsoft.com/office/drawing/2014/main" id="{1E05EBB2-617F-668B-7820-CD713F463838}"/>
              </a:ext>
            </a:extLst>
          </p:cNvPr>
          <p:cNvSpPr>
            <a:spLocks noGrp="1"/>
          </p:cNvSpPr>
          <p:nvPr>
            <p:ph type="body" idx="1"/>
          </p:nvPr>
        </p:nvSpPr>
        <p:spPr/>
        <p:txBody>
          <a:bodyPr/>
          <a:lstStyle/>
          <a:p>
            <a:r>
              <a:rPr lang="ja-JP" altLang="ja-JP" sz="3200" dirty="0"/>
              <a:t>福岡県内にある魅力的な夜景スポットを紹介し、多くの人に知ってもらう。</a:t>
            </a:r>
            <a:endParaRPr lang="en-US" altLang="ja-JP" sz="3200" dirty="0"/>
          </a:p>
          <a:p>
            <a:endParaRPr lang="en-US" altLang="ja-JP" sz="3200" dirty="0"/>
          </a:p>
          <a:p>
            <a:pPr marL="114300" indent="0">
              <a:buNone/>
            </a:pPr>
            <a:endParaRPr lang="ja-JP" altLang="ja-JP" sz="3200" dirty="0"/>
          </a:p>
          <a:p>
            <a:r>
              <a:rPr lang="ja-JP" altLang="ja-JP" sz="3200" dirty="0"/>
              <a:t>背景：インターネットで調べても夜景では人気の場所しか出てこないことが多いのであまりしられてない場所も紹介して、有名ではない魅力的な場所あることをみんなにしってほしい。</a:t>
            </a:r>
          </a:p>
          <a:p>
            <a:endParaRPr kumimoji="1" lang="ja-JP" altLang="en-US" dirty="0"/>
          </a:p>
        </p:txBody>
      </p:sp>
    </p:spTree>
    <p:extLst>
      <p:ext uri="{BB962C8B-B14F-4D97-AF65-F5344CB8AC3E}">
        <p14:creationId xmlns:p14="http://schemas.microsoft.com/office/powerpoint/2010/main" val="471570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7CE480-2116-58C7-718B-BAA4BBA35DAF}"/>
              </a:ext>
            </a:extLst>
          </p:cNvPr>
          <p:cNvSpPr>
            <a:spLocks noGrp="1"/>
          </p:cNvSpPr>
          <p:nvPr>
            <p:ph type="title"/>
          </p:nvPr>
        </p:nvSpPr>
        <p:spPr>
          <a:xfrm>
            <a:off x="838200" y="188662"/>
            <a:ext cx="10515600" cy="1325563"/>
          </a:xfrm>
        </p:spPr>
        <p:txBody>
          <a:bodyPr/>
          <a:lstStyle/>
          <a:p>
            <a:r>
              <a:rPr lang="ja-JP" altLang="en-US" dirty="0"/>
              <a:t>制作②</a:t>
            </a:r>
            <a:r>
              <a:rPr lang="ja-JP" altLang="ja-JP" dirty="0"/>
              <a:t>作品・研究の概要</a:t>
            </a:r>
            <a:endParaRPr kumimoji="1" lang="ja-JP" altLang="en-US" dirty="0"/>
          </a:p>
        </p:txBody>
      </p:sp>
      <p:sp>
        <p:nvSpPr>
          <p:cNvPr id="3" name="テキスト プレースホルダー 2">
            <a:extLst>
              <a:ext uri="{FF2B5EF4-FFF2-40B4-BE49-F238E27FC236}">
                <a16:creationId xmlns:a16="http://schemas.microsoft.com/office/drawing/2014/main" id="{44652CD9-A0E4-B1A0-718F-C845BD75C978}"/>
              </a:ext>
            </a:extLst>
          </p:cNvPr>
          <p:cNvSpPr>
            <a:spLocks noGrp="1"/>
          </p:cNvSpPr>
          <p:nvPr>
            <p:ph type="body" idx="1"/>
          </p:nvPr>
        </p:nvSpPr>
        <p:spPr>
          <a:xfrm>
            <a:off x="110289" y="1514225"/>
            <a:ext cx="8170111" cy="5069455"/>
          </a:xfrm>
        </p:spPr>
        <p:txBody>
          <a:bodyPr>
            <a:normAutofit/>
          </a:bodyPr>
          <a:lstStyle/>
          <a:p>
            <a:r>
              <a:rPr lang="ja-JP" altLang="ja-JP" dirty="0"/>
              <a:t>ターゲット：18～ドライブ好きな人</a:t>
            </a:r>
          </a:p>
          <a:p>
            <a:r>
              <a:rPr lang="ja-JP" altLang="ja-JP" dirty="0"/>
              <a:t>Z世代にすごく人気</a:t>
            </a:r>
          </a:p>
          <a:p>
            <a:r>
              <a:rPr lang="ja-JP" altLang="ja-JP" dirty="0"/>
              <a:t>18時以降の夜のお出かけや遊びへの</a:t>
            </a:r>
            <a:endParaRPr lang="en-US" altLang="ja-JP" dirty="0"/>
          </a:p>
          <a:p>
            <a:pPr marL="114300" indent="0">
              <a:buNone/>
            </a:pPr>
            <a:r>
              <a:rPr lang="ja-JP" altLang="ja-JP" dirty="0"/>
              <a:t>モチベーションが上昇傾向にあること</a:t>
            </a:r>
            <a:endParaRPr lang="en-US" altLang="ja-JP" dirty="0"/>
          </a:p>
          <a:p>
            <a:pPr marL="114300" indent="0">
              <a:buNone/>
            </a:pPr>
            <a:r>
              <a:rPr lang="ja-JP" altLang="en-US" dirty="0"/>
              <a:t>　</a:t>
            </a:r>
            <a:r>
              <a:rPr lang="ja-JP" altLang="ja-JP" dirty="0"/>
              <a:t>が報告されている。</a:t>
            </a:r>
          </a:p>
          <a:p>
            <a:r>
              <a:rPr lang="ja-JP" altLang="ja-JP" dirty="0"/>
              <a:t>また、夜に外出する理由として</a:t>
            </a:r>
            <a:endParaRPr lang="en-US" altLang="ja-JP" dirty="0"/>
          </a:p>
          <a:p>
            <a:pPr marL="114300" indent="0">
              <a:buNone/>
            </a:pPr>
            <a:r>
              <a:rPr lang="ja-JP" altLang="ja-JP" dirty="0"/>
              <a:t>「日中は暑い</a:t>
            </a:r>
            <a:r>
              <a:rPr lang="ja-JP" altLang="en-US" dirty="0"/>
              <a:t>、</a:t>
            </a:r>
            <a:r>
              <a:rPr lang="ja-JP" altLang="ja-JP" dirty="0"/>
              <a:t>夜でないと予定が合いづらい」</a:t>
            </a:r>
            <a:endParaRPr lang="en-US" altLang="ja-JP" dirty="0"/>
          </a:p>
          <a:p>
            <a:pPr marL="114300" indent="0">
              <a:buNone/>
            </a:pPr>
            <a:r>
              <a:rPr lang="ja-JP" altLang="en-US" dirty="0"/>
              <a:t>　</a:t>
            </a:r>
            <a:r>
              <a:rPr lang="ja-JP" altLang="ja-JP" dirty="0"/>
              <a:t>などが挙げられている。</a:t>
            </a:r>
          </a:p>
          <a:p>
            <a:endParaRPr kumimoji="1" lang="ja-JP" altLang="en-US" dirty="0"/>
          </a:p>
        </p:txBody>
      </p:sp>
      <p:pic>
        <p:nvPicPr>
          <p:cNvPr id="9" name="図 8">
            <a:extLst>
              <a:ext uri="{FF2B5EF4-FFF2-40B4-BE49-F238E27FC236}">
                <a16:creationId xmlns:a16="http://schemas.microsoft.com/office/drawing/2014/main" id="{C99DD272-784C-FF75-8FAE-4B69D0F3C7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87360" y="1066800"/>
            <a:ext cx="3994351" cy="5246938"/>
          </a:xfrm>
          <a:prstGeom prst="rect">
            <a:avLst/>
          </a:prstGeom>
        </p:spPr>
      </p:pic>
    </p:spTree>
    <p:extLst>
      <p:ext uri="{BB962C8B-B14F-4D97-AF65-F5344CB8AC3E}">
        <p14:creationId xmlns:p14="http://schemas.microsoft.com/office/powerpoint/2010/main" val="650761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F98127-97A2-6E16-EA78-54438BED8669}"/>
              </a:ext>
            </a:extLst>
          </p:cNvPr>
          <p:cNvSpPr>
            <a:spLocks noGrp="1"/>
          </p:cNvSpPr>
          <p:nvPr>
            <p:ph type="title"/>
          </p:nvPr>
        </p:nvSpPr>
        <p:spPr/>
        <p:txBody>
          <a:bodyPr/>
          <a:lstStyle/>
          <a:p>
            <a:r>
              <a:rPr lang="ja-JP" altLang="en-US" dirty="0"/>
              <a:t>制作②</a:t>
            </a:r>
            <a:r>
              <a:rPr lang="ja-JP" altLang="ja-JP" dirty="0"/>
              <a:t>作品・研究の概要</a:t>
            </a:r>
            <a:endParaRPr kumimoji="1" lang="ja-JP" altLang="en-US" dirty="0"/>
          </a:p>
        </p:txBody>
      </p:sp>
      <p:sp>
        <p:nvSpPr>
          <p:cNvPr id="3" name="テキスト プレースホルダー 2">
            <a:extLst>
              <a:ext uri="{FF2B5EF4-FFF2-40B4-BE49-F238E27FC236}">
                <a16:creationId xmlns:a16="http://schemas.microsoft.com/office/drawing/2014/main" id="{C9E4F899-CEA2-B467-F91D-BBFAC0FAA419}"/>
              </a:ext>
            </a:extLst>
          </p:cNvPr>
          <p:cNvSpPr>
            <a:spLocks noGrp="1"/>
          </p:cNvSpPr>
          <p:nvPr>
            <p:ph type="body" idx="1"/>
          </p:nvPr>
        </p:nvSpPr>
        <p:spPr>
          <a:xfrm>
            <a:off x="609599" y="2115670"/>
            <a:ext cx="11438965" cy="4177554"/>
          </a:xfrm>
        </p:spPr>
        <p:txBody>
          <a:bodyPr/>
          <a:lstStyle/>
          <a:p>
            <a:pPr marL="114300" indent="0">
              <a:buNone/>
            </a:pPr>
            <a:r>
              <a:rPr lang="ja-JP" altLang="en-US" b="1" dirty="0">
                <a:solidFill>
                  <a:srgbClr val="FF0000"/>
                </a:solidFill>
              </a:rPr>
              <a:t>夜景を周っていて気付いた</a:t>
            </a:r>
            <a:r>
              <a:rPr lang="ja-JP" altLang="ja-JP" b="1" dirty="0">
                <a:solidFill>
                  <a:srgbClr val="FF0000"/>
                </a:solidFill>
              </a:rPr>
              <a:t>課題点</a:t>
            </a:r>
            <a:endParaRPr lang="ja-JP" altLang="ja-JP" dirty="0">
              <a:solidFill>
                <a:srgbClr val="FF0000"/>
              </a:solidFill>
            </a:endParaRPr>
          </a:p>
          <a:p>
            <a:r>
              <a:rPr lang="ja-JP" altLang="ja-JP" b="1" dirty="0"/>
              <a:t>車がないと行きづらい場所が多い</a:t>
            </a:r>
          </a:p>
          <a:p>
            <a:r>
              <a:rPr lang="ja-JP" altLang="ja-JP" b="1" dirty="0"/>
              <a:t>駐車場がないことを掲載してないところが多い。</a:t>
            </a:r>
          </a:p>
          <a:p>
            <a:pPr marL="114300" indent="0">
              <a:buNone/>
            </a:pPr>
            <a:r>
              <a:rPr lang="ja-JP" altLang="ja-JP" b="1" dirty="0">
                <a:solidFill>
                  <a:srgbClr val="FF0000"/>
                </a:solidFill>
              </a:rPr>
              <a:t>解決策</a:t>
            </a:r>
            <a:endParaRPr lang="ja-JP" altLang="ja-JP" dirty="0">
              <a:solidFill>
                <a:srgbClr val="FF0000"/>
              </a:solidFill>
            </a:endParaRPr>
          </a:p>
          <a:p>
            <a:r>
              <a:rPr lang="ja-JP" altLang="ja-JP" b="1" dirty="0"/>
              <a:t>公共交通機関でいけるところもしっかり紹介する。</a:t>
            </a:r>
          </a:p>
          <a:p>
            <a:r>
              <a:rPr lang="ja-JP" altLang="ja-JP" b="1" dirty="0"/>
              <a:t>駐車場があるのかアクセスのところに掲載する。</a:t>
            </a:r>
          </a:p>
          <a:p>
            <a:endParaRPr kumimoji="1" lang="ja-JP" altLang="en-US" dirty="0"/>
          </a:p>
        </p:txBody>
      </p:sp>
    </p:spTree>
    <p:extLst>
      <p:ext uri="{BB962C8B-B14F-4D97-AF65-F5344CB8AC3E}">
        <p14:creationId xmlns:p14="http://schemas.microsoft.com/office/powerpoint/2010/main" val="1595576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CCA0A3-52FC-5E52-6CF1-D5B06A0B8186}"/>
              </a:ext>
            </a:extLst>
          </p:cNvPr>
          <p:cNvSpPr>
            <a:spLocks noGrp="1"/>
          </p:cNvSpPr>
          <p:nvPr>
            <p:ph type="title"/>
          </p:nvPr>
        </p:nvSpPr>
        <p:spPr/>
        <p:txBody>
          <a:bodyPr/>
          <a:lstStyle/>
          <a:p>
            <a:r>
              <a:rPr lang="ja-JP" altLang="en-US" dirty="0"/>
              <a:t>制作②</a:t>
            </a:r>
            <a:r>
              <a:rPr lang="ja-JP" altLang="ja-JP" dirty="0"/>
              <a:t>作品・研究の概要</a:t>
            </a:r>
            <a:endParaRPr kumimoji="1" lang="ja-JP" altLang="en-US" dirty="0"/>
          </a:p>
        </p:txBody>
      </p:sp>
      <p:sp>
        <p:nvSpPr>
          <p:cNvPr id="3" name="テキスト プレースホルダー 2">
            <a:extLst>
              <a:ext uri="{FF2B5EF4-FFF2-40B4-BE49-F238E27FC236}">
                <a16:creationId xmlns:a16="http://schemas.microsoft.com/office/drawing/2014/main" id="{174D8A86-379D-6494-C143-B341F4E85E42}"/>
              </a:ext>
            </a:extLst>
          </p:cNvPr>
          <p:cNvSpPr>
            <a:spLocks noGrp="1"/>
          </p:cNvSpPr>
          <p:nvPr>
            <p:ph type="body" idx="1"/>
          </p:nvPr>
        </p:nvSpPr>
        <p:spPr>
          <a:xfrm>
            <a:off x="125506" y="1690688"/>
            <a:ext cx="12066493" cy="5048779"/>
          </a:xfrm>
        </p:spPr>
        <p:txBody>
          <a:bodyPr>
            <a:normAutofit lnSpcReduction="10000"/>
          </a:bodyPr>
          <a:lstStyle/>
          <a:p>
            <a:pPr marL="114300" indent="0">
              <a:buNone/>
            </a:pPr>
            <a:r>
              <a:rPr lang="ja-JP" altLang="ja-JP" dirty="0"/>
              <a:t>作品</a:t>
            </a:r>
            <a:r>
              <a:rPr lang="ja-JP" altLang="en-US" dirty="0"/>
              <a:t>②</a:t>
            </a:r>
            <a:r>
              <a:rPr lang="ja-JP" altLang="ja-JP" dirty="0"/>
              <a:t> webサイト</a:t>
            </a:r>
            <a:endParaRPr lang="en-US" altLang="ja-JP" dirty="0"/>
          </a:p>
          <a:p>
            <a:endParaRPr lang="ja-JP" altLang="ja-JP" dirty="0"/>
          </a:p>
          <a:p>
            <a:r>
              <a:rPr lang="ja-JP" altLang="ja-JP" dirty="0"/>
              <a:t>福岡夜景紹介」</a:t>
            </a:r>
            <a:br>
              <a:rPr lang="ja-JP" altLang="ja-JP" dirty="0"/>
            </a:br>
            <a:r>
              <a:rPr lang="ja-JP" altLang="ja-JP" dirty="0"/>
              <a:t>・福岡県内の夜景スポットを紹介するWebサイト</a:t>
            </a:r>
            <a:br>
              <a:rPr lang="ja-JP" altLang="ja-JP" dirty="0"/>
            </a:br>
            <a:r>
              <a:rPr lang="ja-JP" altLang="ja-JP" dirty="0"/>
              <a:t>・「福岡市」「久留米・筑後」「北九州」の3エリアに分けて紹介</a:t>
            </a:r>
            <a:br>
              <a:rPr lang="ja-JP" altLang="ja-JP" dirty="0"/>
            </a:br>
            <a:r>
              <a:rPr lang="ja-JP" altLang="ja-JP" dirty="0"/>
              <a:t>・各スポットの写真、特徴、アクセスなどを掲載</a:t>
            </a:r>
            <a:endParaRPr lang="en-US" altLang="ja-JP" dirty="0"/>
          </a:p>
          <a:p>
            <a:pPr marL="114300" indent="0">
              <a:buNone/>
            </a:pPr>
            <a:br>
              <a:rPr lang="ja-JP" altLang="ja-JP" dirty="0"/>
            </a:br>
            <a:r>
              <a:rPr lang="ja-JP" altLang="ja-JP" dirty="0"/>
              <a:t>・穴場も紹介してもっと夜の外出先を探している人が、行ってみたい場所を見つけられるサイトを目指す</a:t>
            </a:r>
            <a:endParaRPr lang="en-US" altLang="ja-JP"/>
          </a:p>
          <a:p>
            <a:pPr marL="114300" indent="0">
              <a:buNone/>
            </a:pPr>
            <a:endParaRPr lang="en-US" altLang="ja-JP" dirty="0"/>
          </a:p>
          <a:p>
            <a:pPr marL="114300" indent="0">
              <a:buNone/>
            </a:pPr>
            <a:r>
              <a:rPr kumimoji="1" lang="ja-JP" altLang="en-US" dirty="0">
                <a:hlinkClick r:id="rId2"/>
              </a:rPr>
              <a:t>福岡県の夜景紹介</a:t>
            </a:r>
            <a:endParaRPr kumimoji="1" lang="ja-JP" altLang="en-US" dirty="0"/>
          </a:p>
        </p:txBody>
      </p:sp>
    </p:spTree>
    <p:extLst>
      <p:ext uri="{BB962C8B-B14F-4D97-AF65-F5344CB8AC3E}">
        <p14:creationId xmlns:p14="http://schemas.microsoft.com/office/powerpoint/2010/main" val="1896230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52A84A-4167-EC3A-3157-7C994C1884C5}"/>
              </a:ext>
            </a:extLst>
          </p:cNvPr>
          <p:cNvSpPr>
            <a:spLocks noGrp="1"/>
          </p:cNvSpPr>
          <p:nvPr>
            <p:ph type="title"/>
          </p:nvPr>
        </p:nvSpPr>
        <p:spPr>
          <a:xfrm>
            <a:off x="838200" y="365125"/>
            <a:ext cx="10515600" cy="752475"/>
          </a:xfrm>
        </p:spPr>
        <p:txBody>
          <a:bodyPr>
            <a:normAutofit fontScale="90000"/>
          </a:bodyPr>
          <a:lstStyle/>
          <a:p>
            <a:pPr marL="114300"/>
            <a:r>
              <a:rPr lang="ja-JP" altLang="ja-JP" b="1" dirty="0"/>
              <a:t>現在までの制作状況</a:t>
            </a:r>
            <a:br>
              <a:rPr lang="ja-JP" altLang="ja-JP" b="1" dirty="0"/>
            </a:br>
            <a:endParaRPr kumimoji="1" lang="ja-JP" altLang="en-US" dirty="0"/>
          </a:p>
        </p:txBody>
      </p:sp>
      <p:sp>
        <p:nvSpPr>
          <p:cNvPr id="3" name="テキスト プレースホルダー 2">
            <a:extLst>
              <a:ext uri="{FF2B5EF4-FFF2-40B4-BE49-F238E27FC236}">
                <a16:creationId xmlns:a16="http://schemas.microsoft.com/office/drawing/2014/main" id="{039E9C05-20F2-C5DF-E136-299A16E27F93}"/>
              </a:ext>
            </a:extLst>
          </p:cNvPr>
          <p:cNvSpPr>
            <a:spLocks noGrp="1"/>
          </p:cNvSpPr>
          <p:nvPr>
            <p:ph type="body" idx="1"/>
          </p:nvPr>
        </p:nvSpPr>
        <p:spPr>
          <a:xfrm>
            <a:off x="778934" y="877359"/>
            <a:ext cx="8551334" cy="5895974"/>
          </a:xfrm>
        </p:spPr>
        <p:txBody>
          <a:bodyPr>
            <a:normAutofit fontScale="25000" lnSpcReduction="20000"/>
          </a:bodyPr>
          <a:lstStyle/>
          <a:p>
            <a:r>
              <a:rPr lang="ja-JP" altLang="ja-JP" sz="7200" b="1" dirty="0"/>
              <a:t>7</a:t>
            </a:r>
            <a:r>
              <a:rPr lang="ja-JP" altLang="en-US" sz="7200" b="1" dirty="0"/>
              <a:t>月</a:t>
            </a:r>
            <a:endParaRPr lang="en-US" altLang="ja-JP" sz="7200" b="1" dirty="0"/>
          </a:p>
          <a:p>
            <a:r>
              <a:rPr lang="ja-JP" altLang="ja-JP" sz="7200" dirty="0"/>
              <a:t>卒業制作のテーマを決定</a:t>
            </a:r>
          </a:p>
          <a:p>
            <a:pPr lvl="0"/>
            <a:r>
              <a:rPr lang="ja-JP" altLang="ja-JP" sz="7200" dirty="0"/>
              <a:t>サイトの構成・ページ内容を考える</a:t>
            </a:r>
          </a:p>
          <a:p>
            <a:pPr lvl="0"/>
            <a:r>
              <a:rPr lang="ja-JP" altLang="ja-JP" sz="7200" dirty="0"/>
              <a:t>掲載する情報や写真を調査</a:t>
            </a:r>
            <a:endParaRPr lang="en-US" altLang="ja-JP" sz="7200" dirty="0"/>
          </a:p>
          <a:p>
            <a:pPr lvl="0"/>
            <a:endParaRPr lang="ja-JP" altLang="ja-JP" sz="7200" dirty="0"/>
          </a:p>
          <a:p>
            <a:r>
              <a:rPr lang="ja-JP" altLang="ja-JP" sz="7200" b="1" dirty="0"/>
              <a:t>8</a:t>
            </a:r>
            <a:r>
              <a:rPr lang="ja-JP" altLang="en-US" sz="7200" b="1" dirty="0"/>
              <a:t>月</a:t>
            </a:r>
            <a:endParaRPr lang="en-US" altLang="ja-JP" sz="7200" b="1" dirty="0"/>
          </a:p>
          <a:p>
            <a:r>
              <a:rPr lang="ja-JP" altLang="ja-JP" sz="7200" dirty="0"/>
              <a:t>夜景スポットの選定</a:t>
            </a:r>
          </a:p>
          <a:p>
            <a:pPr lvl="0"/>
            <a:r>
              <a:rPr lang="ja-JP" altLang="ja-JP" sz="7200" dirty="0"/>
              <a:t>写真撮影・素材集め</a:t>
            </a:r>
          </a:p>
          <a:p>
            <a:pPr lvl="0"/>
            <a:r>
              <a:rPr lang="ja-JP" altLang="ja-JP" sz="7200" dirty="0"/>
              <a:t>WebサイトのHTML・CSS制作を開始</a:t>
            </a:r>
          </a:p>
          <a:p>
            <a:pPr lvl="0"/>
            <a:r>
              <a:rPr lang="ja-JP" altLang="ja-JP" sz="7200" dirty="0"/>
              <a:t>ページごとの文章や内容を作成</a:t>
            </a:r>
            <a:endParaRPr lang="en-US" altLang="ja-JP" sz="7200" dirty="0"/>
          </a:p>
          <a:p>
            <a:pPr lvl="0"/>
            <a:endParaRPr lang="ja-JP" altLang="ja-JP" sz="7200" dirty="0"/>
          </a:p>
          <a:p>
            <a:r>
              <a:rPr lang="ja-JP" altLang="ja-JP" sz="7200" b="1" dirty="0"/>
              <a:t>9月</a:t>
            </a:r>
            <a:endParaRPr lang="ja-JP" altLang="ja-JP" sz="7200" dirty="0"/>
          </a:p>
          <a:p>
            <a:pPr lvl="0"/>
            <a:r>
              <a:rPr lang="ja-JP" altLang="ja-JP" sz="7200" dirty="0"/>
              <a:t>「福岡夜景紹介」の各ページを制作</a:t>
            </a:r>
          </a:p>
          <a:p>
            <a:pPr lvl="0"/>
            <a:r>
              <a:rPr lang="ja-JP" altLang="ja-JP" sz="7200" dirty="0"/>
              <a:t>「博多・福岡市」「久留米・筑後」「北九州」のエリア分けを作成</a:t>
            </a:r>
          </a:p>
          <a:p>
            <a:pPr lvl="0"/>
            <a:r>
              <a:rPr lang="ja-JP" altLang="ja-JP" sz="7200" dirty="0"/>
              <a:t>「13キロやせた方法」の4ページを制作</a:t>
            </a:r>
          </a:p>
          <a:p>
            <a:pPr lvl="0"/>
            <a:r>
              <a:rPr lang="ja-JP" altLang="ja-JP" sz="7200" dirty="0"/>
              <a:t>写真・文章・ランキングなどのコンテンツを追加</a:t>
            </a:r>
          </a:p>
          <a:p>
            <a:pPr lvl="0"/>
            <a:r>
              <a:rPr lang="ja-JP" altLang="ja-JP" sz="7200" dirty="0"/>
              <a:t>ナビゲーションやページ移動を設定</a:t>
            </a:r>
          </a:p>
          <a:p>
            <a:pPr lvl="0"/>
            <a:r>
              <a:rPr lang="ja-JP" altLang="ja-JP" sz="7200" dirty="0"/>
              <a:t>デザイン・レイアウトを調整</a:t>
            </a:r>
          </a:p>
        </p:txBody>
      </p:sp>
    </p:spTree>
    <p:extLst>
      <p:ext uri="{BB962C8B-B14F-4D97-AF65-F5344CB8AC3E}">
        <p14:creationId xmlns:p14="http://schemas.microsoft.com/office/powerpoint/2010/main" val="3558397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F11A5C-954B-350D-CF23-F472F3C71C34}"/>
              </a:ext>
            </a:extLst>
          </p:cNvPr>
          <p:cNvSpPr>
            <a:spLocks noGrp="1"/>
          </p:cNvSpPr>
          <p:nvPr>
            <p:ph type="title"/>
          </p:nvPr>
        </p:nvSpPr>
        <p:spPr/>
        <p:txBody>
          <a:bodyPr/>
          <a:lstStyle/>
          <a:p>
            <a:r>
              <a:rPr kumimoji="1" lang="ja-JP" altLang="en-US" dirty="0"/>
              <a:t>これからやること</a:t>
            </a:r>
          </a:p>
        </p:txBody>
      </p:sp>
      <p:sp>
        <p:nvSpPr>
          <p:cNvPr id="3" name="テキスト プレースホルダー 2">
            <a:extLst>
              <a:ext uri="{FF2B5EF4-FFF2-40B4-BE49-F238E27FC236}">
                <a16:creationId xmlns:a16="http://schemas.microsoft.com/office/drawing/2014/main" id="{34FFCCCD-F0E3-B713-5E28-3BFCB22979C0}"/>
              </a:ext>
            </a:extLst>
          </p:cNvPr>
          <p:cNvSpPr>
            <a:spLocks noGrp="1"/>
          </p:cNvSpPr>
          <p:nvPr>
            <p:ph type="body" idx="1"/>
          </p:nvPr>
        </p:nvSpPr>
        <p:spPr>
          <a:xfrm>
            <a:off x="838200" y="1690688"/>
            <a:ext cx="10515600" cy="4351338"/>
          </a:xfrm>
        </p:spPr>
        <p:txBody>
          <a:bodyPr>
            <a:normAutofit fontScale="62500" lnSpcReduction="20000"/>
          </a:bodyPr>
          <a:lstStyle/>
          <a:p>
            <a:pPr marL="114300" indent="0">
              <a:buNone/>
            </a:pPr>
            <a:r>
              <a:rPr lang="ja-JP" altLang="ja-JP" dirty="0"/>
              <a:t>現在、Webサイトの基本的な部分は完成しているが、以下の作業が残っている。</a:t>
            </a:r>
            <a:endParaRPr lang="en-US" altLang="ja-JP" dirty="0"/>
          </a:p>
          <a:p>
            <a:endParaRPr lang="ja-JP" altLang="ja-JP" dirty="0"/>
          </a:p>
          <a:p>
            <a:pPr marL="114300" indent="0">
              <a:buNone/>
            </a:pPr>
            <a:r>
              <a:rPr lang="ja-JP" altLang="ja-JP" dirty="0"/>
              <a:t>・各ページの文章の最終確認</a:t>
            </a:r>
            <a:endParaRPr lang="en-US" altLang="ja-JP" dirty="0"/>
          </a:p>
          <a:p>
            <a:pPr marL="114300" indent="0">
              <a:buNone/>
            </a:pPr>
            <a:br>
              <a:rPr lang="ja-JP" altLang="ja-JP" dirty="0"/>
            </a:br>
            <a:r>
              <a:rPr lang="ja-JP" altLang="ja-JP" dirty="0"/>
              <a:t>・画像や写真の追加・調整</a:t>
            </a:r>
            <a:endParaRPr lang="en-US" altLang="ja-JP" dirty="0"/>
          </a:p>
          <a:p>
            <a:pPr marL="114300" indent="0">
              <a:buNone/>
            </a:pPr>
            <a:br>
              <a:rPr lang="ja-JP" altLang="ja-JP" dirty="0"/>
            </a:br>
            <a:r>
              <a:rPr lang="ja-JP" altLang="ja-JP" dirty="0"/>
              <a:t>・カロリーや基礎代謝についての内容の見直し</a:t>
            </a:r>
            <a:endParaRPr lang="en-US" altLang="ja-JP" dirty="0"/>
          </a:p>
          <a:p>
            <a:pPr marL="114300" indent="0">
              <a:buNone/>
            </a:pPr>
            <a:br>
              <a:rPr lang="ja-JP" altLang="ja-JP" dirty="0"/>
            </a:br>
            <a:r>
              <a:rPr lang="ja-JP" altLang="ja-JP" dirty="0"/>
              <a:t>・各ページのデザイン調整</a:t>
            </a:r>
            <a:endParaRPr lang="en-US" altLang="ja-JP" dirty="0"/>
          </a:p>
          <a:p>
            <a:pPr marL="114300" indent="0">
              <a:buNone/>
            </a:pPr>
            <a:br>
              <a:rPr lang="ja-JP" altLang="ja-JP" dirty="0"/>
            </a:br>
            <a:r>
              <a:rPr lang="ja-JP" altLang="ja-JP" dirty="0"/>
              <a:t>・スマートフォンでの表示確認</a:t>
            </a:r>
            <a:endParaRPr lang="en-US" altLang="ja-JP" dirty="0"/>
          </a:p>
          <a:p>
            <a:pPr marL="114300" indent="0">
              <a:buNone/>
            </a:pPr>
            <a:br>
              <a:rPr lang="ja-JP" altLang="ja-JP" dirty="0"/>
            </a:br>
            <a:r>
              <a:rPr lang="ja-JP" altLang="ja-JP" dirty="0"/>
              <a:t>・ページリンクやボタンの動作確認</a:t>
            </a:r>
            <a:endParaRPr lang="en-US" altLang="ja-JP" dirty="0"/>
          </a:p>
          <a:p>
            <a:pPr marL="114300" indent="0">
              <a:buNone/>
            </a:pPr>
            <a:br>
              <a:rPr lang="ja-JP" altLang="ja-JP" dirty="0"/>
            </a:br>
            <a:r>
              <a:rPr lang="ja-JP" altLang="ja-JP" dirty="0"/>
              <a:t>・Webサイト全体の最終的な修正</a:t>
            </a:r>
          </a:p>
          <a:p>
            <a:endParaRPr kumimoji="1" lang="ja-JP" altLang="en-US" dirty="0"/>
          </a:p>
        </p:txBody>
      </p:sp>
    </p:spTree>
    <p:extLst>
      <p:ext uri="{BB962C8B-B14F-4D97-AF65-F5344CB8AC3E}">
        <p14:creationId xmlns:p14="http://schemas.microsoft.com/office/powerpoint/2010/main" val="2459493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15565c702ff_2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a:t>今後の流れ</a:t>
            </a:r>
            <a:endParaRPr/>
          </a:p>
          <a:p>
            <a:pPr marL="0" lvl="0" indent="0" algn="l" rtl="0">
              <a:lnSpc>
                <a:spcPct val="90000"/>
              </a:lnSpc>
              <a:spcBef>
                <a:spcPts val="0"/>
              </a:spcBef>
              <a:spcAft>
                <a:spcPts val="0"/>
              </a:spcAft>
              <a:buClr>
                <a:schemeClr val="dk1"/>
              </a:buClr>
              <a:buSzPts val="4400"/>
              <a:buFont typeface="Arial"/>
              <a:buNone/>
            </a:pPr>
            <a:endParaRPr/>
          </a:p>
        </p:txBody>
      </p:sp>
      <p:sp>
        <p:nvSpPr>
          <p:cNvPr id="115" name="Google Shape;115;g15565c702ff_2_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graphicFrame>
        <p:nvGraphicFramePr>
          <p:cNvPr id="2" name="表 1">
            <a:extLst>
              <a:ext uri="{FF2B5EF4-FFF2-40B4-BE49-F238E27FC236}">
                <a16:creationId xmlns:a16="http://schemas.microsoft.com/office/drawing/2014/main" id="{2924FA05-AE9D-2C8A-CEE3-F05EB1309A49}"/>
              </a:ext>
            </a:extLst>
          </p:cNvPr>
          <p:cNvGraphicFramePr>
            <a:graphicFrameLocks noGrp="1"/>
          </p:cNvGraphicFramePr>
          <p:nvPr>
            <p:extLst>
              <p:ext uri="{D42A27DB-BD31-4B8C-83A1-F6EECF244321}">
                <p14:modId xmlns:p14="http://schemas.microsoft.com/office/powerpoint/2010/main" val="4058433519"/>
              </p:ext>
            </p:extLst>
          </p:nvPr>
        </p:nvGraphicFramePr>
        <p:xfrm>
          <a:off x="3710940" y="2020094"/>
          <a:ext cx="4770120" cy="3611880"/>
        </p:xfrm>
        <a:graphic>
          <a:graphicData uri="http://schemas.openxmlformats.org/drawingml/2006/table">
            <a:tbl>
              <a:tblPr>
                <a:tableStyleId>{5C22544A-7EE6-4342-B048-85BDC9FD1C3A}</a:tableStyleId>
              </a:tblPr>
              <a:tblGrid>
                <a:gridCol w="1699260">
                  <a:extLst>
                    <a:ext uri="{9D8B030D-6E8A-4147-A177-3AD203B41FA5}">
                      <a16:colId xmlns:a16="http://schemas.microsoft.com/office/drawing/2014/main" val="436897197"/>
                    </a:ext>
                  </a:extLst>
                </a:gridCol>
                <a:gridCol w="3070860">
                  <a:extLst>
                    <a:ext uri="{9D8B030D-6E8A-4147-A177-3AD203B41FA5}">
                      <a16:colId xmlns:a16="http://schemas.microsoft.com/office/drawing/2014/main" val="1692333058"/>
                    </a:ext>
                  </a:extLst>
                </a:gridCol>
              </a:tblGrid>
              <a:tr h="609600">
                <a:tc>
                  <a:txBody>
                    <a:bodyPr/>
                    <a:lstStyle/>
                    <a:p>
                      <a:pPr rtl="0" fontAlgn="t">
                        <a:buNone/>
                      </a:pPr>
                      <a:r>
                        <a:rPr lang="ja-JP" sz="2400" u="none" strike="noStrike">
                          <a:effectLst/>
                        </a:rPr>
                        <a:t>10月</a:t>
                      </a:r>
                      <a:endParaRPr lang="ja-JP">
                        <a:effectLst/>
                      </a:endParaRPr>
                    </a:p>
                  </a:txBody>
                  <a:tcPr marL="45720" marR="45720" marT="38100" marB="38100"/>
                </a:tc>
                <a:tc>
                  <a:txBody>
                    <a:bodyPr/>
                    <a:lstStyle/>
                    <a:p>
                      <a:pPr rtl="0" fontAlgn="t">
                        <a:buNone/>
                      </a:pPr>
                      <a:r>
                        <a:rPr lang="ja-JP" altLang="en-US" sz="2400" dirty="0"/>
                        <a:t>１つ目作品完成</a:t>
                      </a:r>
                      <a:br>
                        <a:rPr lang="ja-JP" altLang="ja-JP" sz="2400" dirty="0"/>
                      </a:br>
                      <a:endParaRPr lang="ja-JP" dirty="0">
                        <a:effectLst/>
                      </a:endParaRPr>
                    </a:p>
                  </a:txBody>
                  <a:tcPr marL="45720" marR="45720" marT="38100" marB="38100"/>
                </a:tc>
                <a:extLst>
                  <a:ext uri="{0D108BD9-81ED-4DB2-BD59-A6C34878D82A}">
                    <a16:rowId xmlns:a16="http://schemas.microsoft.com/office/drawing/2014/main" val="2952116856"/>
                  </a:ext>
                </a:extLst>
              </a:tr>
              <a:tr h="609600">
                <a:tc>
                  <a:txBody>
                    <a:bodyPr/>
                    <a:lstStyle/>
                    <a:p>
                      <a:pPr rtl="0" fontAlgn="t">
                        <a:buNone/>
                      </a:pPr>
                      <a:r>
                        <a:rPr lang="ja-JP" sz="2400" u="none" strike="noStrike">
                          <a:effectLst/>
                        </a:rPr>
                        <a:t>11月</a:t>
                      </a:r>
                      <a:endParaRPr lang="ja-JP">
                        <a:effectLst/>
                      </a:endParaRPr>
                    </a:p>
                  </a:txBody>
                  <a:tcPr marL="45720" marR="45720" marT="38100" marB="38100"/>
                </a:tc>
                <a:tc>
                  <a:txBody>
                    <a:bodyPr/>
                    <a:lstStyle/>
                    <a:p>
                      <a:pPr rtl="0" fontAlgn="t">
                        <a:buNone/>
                      </a:pPr>
                      <a:r>
                        <a:rPr lang="ja-JP" altLang="en-US" sz="2400" dirty="0">
                          <a:effectLst/>
                        </a:rPr>
                        <a:t>２つ目作品完成</a:t>
                      </a:r>
                      <a:endParaRPr lang="ja-JP" sz="2400" dirty="0">
                        <a:effectLst/>
                      </a:endParaRPr>
                    </a:p>
                  </a:txBody>
                  <a:tcPr marL="45720" marR="45720" marT="38100" marB="38100"/>
                </a:tc>
                <a:extLst>
                  <a:ext uri="{0D108BD9-81ED-4DB2-BD59-A6C34878D82A}">
                    <a16:rowId xmlns:a16="http://schemas.microsoft.com/office/drawing/2014/main" val="137419602"/>
                  </a:ext>
                </a:extLst>
              </a:tr>
              <a:tr h="609600">
                <a:tc>
                  <a:txBody>
                    <a:bodyPr/>
                    <a:lstStyle/>
                    <a:p>
                      <a:pPr rtl="0" fontAlgn="t">
                        <a:buNone/>
                      </a:pPr>
                      <a:r>
                        <a:rPr lang="ja-JP" sz="2400" u="none" strike="noStrike">
                          <a:effectLst/>
                        </a:rPr>
                        <a:t>12月</a:t>
                      </a:r>
                      <a:endParaRPr lang="ja-JP">
                        <a:effectLst/>
                      </a:endParaRPr>
                    </a:p>
                  </a:txBody>
                  <a:tcPr marL="45720" marR="45720" marT="38100" marB="38100"/>
                </a:tc>
                <a:tc>
                  <a:txBody>
                    <a:bodyPr/>
                    <a:lstStyle/>
                    <a:p>
                      <a:pPr rtl="0" fontAlgn="t">
                        <a:buNone/>
                      </a:pPr>
                      <a:r>
                        <a:rPr lang="ja-JP" altLang="ja-JP" sz="2400" dirty="0"/>
                        <a:t>細かい部分を調整</a:t>
                      </a:r>
                      <a:endParaRPr lang="ja-JP" sz="2400" dirty="0">
                        <a:effectLst/>
                      </a:endParaRPr>
                    </a:p>
                  </a:txBody>
                  <a:tcPr marL="45720" marR="45720" marT="38100" marB="38100"/>
                </a:tc>
                <a:extLst>
                  <a:ext uri="{0D108BD9-81ED-4DB2-BD59-A6C34878D82A}">
                    <a16:rowId xmlns:a16="http://schemas.microsoft.com/office/drawing/2014/main" val="4192191361"/>
                  </a:ext>
                </a:extLst>
              </a:tr>
              <a:tr h="609600">
                <a:tc>
                  <a:txBody>
                    <a:bodyPr/>
                    <a:lstStyle/>
                    <a:p>
                      <a:pPr rtl="0" fontAlgn="t">
                        <a:buNone/>
                      </a:pPr>
                      <a:r>
                        <a:rPr lang="ja-JP" sz="2400" u="none" strike="noStrike">
                          <a:effectLst/>
                        </a:rPr>
                        <a:t>1月</a:t>
                      </a:r>
                      <a:endParaRPr lang="ja-JP">
                        <a:effectLst/>
                      </a:endParaRPr>
                    </a:p>
                    <a:p>
                      <a:pPr fontAlgn="t">
                        <a:buNone/>
                      </a:pPr>
                      <a:br>
                        <a:rPr lang="ja-JP">
                          <a:effectLst/>
                        </a:rPr>
                      </a:br>
                      <a:endParaRPr lang="ja-JP">
                        <a:effectLst/>
                      </a:endParaRPr>
                    </a:p>
                  </a:txBody>
                  <a:tcPr marL="45720" marR="45720" marT="38100" marB="38100"/>
                </a:tc>
                <a:tc>
                  <a:txBody>
                    <a:bodyPr/>
                    <a:lstStyle/>
                    <a:p>
                      <a:pPr rtl="0" fontAlgn="t">
                        <a:buNone/>
                      </a:pPr>
                      <a:r>
                        <a:rPr lang="ja-JP" altLang="en-US" sz="2400" u="none" strike="noStrike" dirty="0">
                          <a:effectLst/>
                        </a:rPr>
                        <a:t>展示準備</a:t>
                      </a:r>
                      <a:endParaRPr lang="ja-JP" dirty="0">
                        <a:effectLst/>
                      </a:endParaRPr>
                    </a:p>
                    <a:p>
                      <a:pPr fontAlgn="t">
                        <a:buNone/>
                      </a:pPr>
                      <a:br>
                        <a:rPr lang="ja-JP" dirty="0">
                          <a:effectLst/>
                        </a:rPr>
                      </a:br>
                      <a:endParaRPr lang="ja-JP" dirty="0">
                        <a:effectLst/>
                      </a:endParaRPr>
                    </a:p>
                  </a:txBody>
                  <a:tcPr marL="45720" marR="45720" marT="38100" marB="38100"/>
                </a:tc>
                <a:extLst>
                  <a:ext uri="{0D108BD9-81ED-4DB2-BD59-A6C34878D82A}">
                    <a16:rowId xmlns:a16="http://schemas.microsoft.com/office/drawing/2014/main" val="784853396"/>
                  </a:ext>
                </a:extLst>
              </a:tr>
              <a:tr h="609600">
                <a:tc>
                  <a:txBody>
                    <a:bodyPr/>
                    <a:lstStyle/>
                    <a:p>
                      <a:pPr rtl="0" fontAlgn="t">
                        <a:buNone/>
                      </a:pPr>
                      <a:r>
                        <a:rPr lang="ja-JP" sz="2400" u="none" strike="noStrike">
                          <a:effectLst/>
                        </a:rPr>
                        <a:t>2月</a:t>
                      </a:r>
                      <a:endParaRPr lang="ja-JP">
                        <a:effectLst/>
                      </a:endParaRPr>
                    </a:p>
                    <a:p>
                      <a:pPr fontAlgn="t">
                        <a:buNone/>
                      </a:pPr>
                      <a:br>
                        <a:rPr lang="ja-JP">
                          <a:effectLst/>
                        </a:rPr>
                      </a:br>
                      <a:endParaRPr lang="ja-JP">
                        <a:effectLst/>
                      </a:endParaRPr>
                    </a:p>
                  </a:txBody>
                  <a:tcPr marL="45720" marR="45720" marT="38100" marB="38100"/>
                </a:tc>
                <a:tc>
                  <a:txBody>
                    <a:bodyPr/>
                    <a:lstStyle/>
                    <a:p>
                      <a:pPr rtl="0" fontAlgn="t">
                        <a:buNone/>
                      </a:pPr>
                      <a:r>
                        <a:rPr lang="ja-JP" altLang="en-US" sz="2400" u="none" strike="noStrike" dirty="0">
                          <a:effectLst/>
                        </a:rPr>
                        <a:t>展示準備</a:t>
                      </a:r>
                      <a:endParaRPr lang="ja-JP" dirty="0">
                        <a:effectLst/>
                      </a:endParaRPr>
                    </a:p>
                  </a:txBody>
                  <a:tcPr marL="45720" marR="45720" marT="38100" marB="38100"/>
                </a:tc>
                <a:extLst>
                  <a:ext uri="{0D108BD9-81ED-4DB2-BD59-A6C34878D82A}">
                    <a16:rowId xmlns:a16="http://schemas.microsoft.com/office/drawing/2014/main" val="1088354889"/>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g15565c702ff_2_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a:t>制作・研究方法</a:t>
            </a:r>
            <a:endParaRPr/>
          </a:p>
        </p:txBody>
      </p:sp>
      <p:sp>
        <p:nvSpPr>
          <p:cNvPr id="121" name="Google Shape;121;g15565c702ff_2_1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graphicFrame>
        <p:nvGraphicFramePr>
          <p:cNvPr id="2" name="表 1">
            <a:extLst>
              <a:ext uri="{FF2B5EF4-FFF2-40B4-BE49-F238E27FC236}">
                <a16:creationId xmlns:a16="http://schemas.microsoft.com/office/drawing/2014/main" id="{9158F854-90F0-EB2F-5AB5-D3E205C59632}"/>
              </a:ext>
            </a:extLst>
          </p:cNvPr>
          <p:cNvGraphicFramePr>
            <a:graphicFrameLocks noGrp="1"/>
          </p:cNvGraphicFramePr>
          <p:nvPr>
            <p:extLst>
              <p:ext uri="{D42A27DB-BD31-4B8C-83A1-F6EECF244321}">
                <p14:modId xmlns:p14="http://schemas.microsoft.com/office/powerpoint/2010/main" val="769974917"/>
              </p:ext>
            </p:extLst>
          </p:nvPr>
        </p:nvGraphicFramePr>
        <p:xfrm>
          <a:off x="3710940" y="2987834"/>
          <a:ext cx="4770120" cy="1417320"/>
        </p:xfrm>
        <a:graphic>
          <a:graphicData uri="http://schemas.openxmlformats.org/drawingml/2006/table">
            <a:tbl>
              <a:tblPr>
                <a:tableStyleId>{5C22544A-7EE6-4342-B048-85BDC9FD1C3A}</a:tableStyleId>
              </a:tblPr>
              <a:tblGrid>
                <a:gridCol w="1676400">
                  <a:extLst>
                    <a:ext uri="{9D8B030D-6E8A-4147-A177-3AD203B41FA5}">
                      <a16:colId xmlns:a16="http://schemas.microsoft.com/office/drawing/2014/main" val="3385722043"/>
                    </a:ext>
                  </a:extLst>
                </a:gridCol>
                <a:gridCol w="3093720">
                  <a:extLst>
                    <a:ext uri="{9D8B030D-6E8A-4147-A177-3AD203B41FA5}">
                      <a16:colId xmlns:a16="http://schemas.microsoft.com/office/drawing/2014/main" val="3216751020"/>
                    </a:ext>
                  </a:extLst>
                </a:gridCol>
              </a:tblGrid>
              <a:tr h="609600">
                <a:tc>
                  <a:txBody>
                    <a:bodyPr/>
                    <a:lstStyle/>
                    <a:p>
                      <a:pPr rtl="0" fontAlgn="t">
                        <a:buNone/>
                      </a:pPr>
                      <a:r>
                        <a:rPr lang="ja-JP" sz="2400" u="none" strike="noStrike" dirty="0">
                          <a:effectLst/>
                        </a:rPr>
                        <a:t>使用ソフト</a:t>
                      </a:r>
                      <a:endParaRPr lang="ja-JP" dirty="0">
                        <a:effectLst/>
                      </a:endParaRPr>
                    </a:p>
                  </a:txBody>
                  <a:tcPr marL="45720" marR="45720" marT="38100" marB="38100"/>
                </a:tc>
                <a:tc>
                  <a:txBody>
                    <a:bodyPr/>
                    <a:lstStyle/>
                    <a:p>
                      <a:pPr rtl="0" fontAlgn="t">
                        <a:buNone/>
                      </a:pPr>
                      <a:r>
                        <a:rPr lang="ja-JP" sz="2400" u="none" strike="noStrike" dirty="0">
                          <a:effectLst/>
                        </a:rPr>
                        <a:t>P</a:t>
                      </a:r>
                      <a:r>
                        <a:rPr lang="en-US" altLang="ja-JP" sz="2400" u="none" strike="noStrike" dirty="0" err="1">
                          <a:effectLst/>
                        </a:rPr>
                        <a:t>hotoShop</a:t>
                      </a:r>
                      <a:r>
                        <a:rPr lang="ja-JP" sz="2400" u="none" strike="noStrike" dirty="0">
                          <a:effectLst/>
                        </a:rPr>
                        <a:t>,</a:t>
                      </a:r>
                      <a:endParaRPr lang="en-US" altLang="ja-JP" sz="2400" u="none" strike="noStrike" dirty="0">
                        <a:effectLst/>
                      </a:endParaRPr>
                    </a:p>
                    <a:p>
                      <a:pPr rtl="0" fontAlgn="t">
                        <a:buNone/>
                      </a:pPr>
                      <a:r>
                        <a:rPr lang="en-US" altLang="ja-JP" sz="2400" u="none" strike="noStrike" dirty="0" err="1">
                          <a:effectLst/>
                        </a:rPr>
                        <a:t>VisualStudioCode</a:t>
                      </a:r>
                      <a:endParaRPr lang="ja-JP" dirty="0">
                        <a:effectLst/>
                      </a:endParaRPr>
                    </a:p>
                  </a:txBody>
                  <a:tcPr marL="45720" marR="45720" marT="38100" marB="38100"/>
                </a:tc>
                <a:extLst>
                  <a:ext uri="{0D108BD9-81ED-4DB2-BD59-A6C34878D82A}">
                    <a16:rowId xmlns:a16="http://schemas.microsoft.com/office/drawing/2014/main" val="1637335893"/>
                  </a:ext>
                </a:extLst>
              </a:tr>
              <a:tr h="609600">
                <a:tc>
                  <a:txBody>
                    <a:bodyPr/>
                    <a:lstStyle/>
                    <a:p>
                      <a:pPr rtl="0" fontAlgn="t">
                        <a:buNone/>
                      </a:pPr>
                      <a:r>
                        <a:rPr lang="ja-JP" sz="2400" u="none" strike="noStrike">
                          <a:effectLst/>
                        </a:rPr>
                        <a:t>機材</a:t>
                      </a:r>
                      <a:endParaRPr lang="ja-JP">
                        <a:effectLst/>
                      </a:endParaRPr>
                    </a:p>
                  </a:txBody>
                  <a:tcPr marL="45720" marR="45720" marT="38100" marB="38100"/>
                </a:tc>
                <a:tc>
                  <a:txBody>
                    <a:bodyPr/>
                    <a:lstStyle/>
                    <a:p>
                      <a:pPr rtl="0" fontAlgn="t">
                        <a:buNone/>
                      </a:pPr>
                      <a:r>
                        <a:rPr lang="ja-JP" sz="2400" u="none" strike="noStrike" dirty="0">
                          <a:effectLst/>
                        </a:rPr>
                        <a:t>スマホ</a:t>
                      </a:r>
                      <a:endParaRPr lang="ja-JP" dirty="0">
                        <a:effectLst/>
                      </a:endParaRPr>
                    </a:p>
                  </a:txBody>
                  <a:tcPr marL="45720" marR="45720" marT="38100" marB="38100"/>
                </a:tc>
                <a:extLst>
                  <a:ext uri="{0D108BD9-81ED-4DB2-BD59-A6C34878D82A}">
                    <a16:rowId xmlns:a16="http://schemas.microsoft.com/office/drawing/2014/main" val="958231735"/>
                  </a:ext>
                </a:extLst>
              </a:tr>
            </a:tbl>
          </a:graphicData>
        </a:graphic>
      </p:graphicFrame>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930</Words>
  <Application>Microsoft Office PowerPoint</Application>
  <PresentationFormat>ワイド画面</PresentationFormat>
  <Paragraphs>132</Paragraphs>
  <Slides>16</Slides>
  <Notes>8</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16</vt:i4>
      </vt:variant>
    </vt:vector>
  </HeadingPairs>
  <TitlesOfParts>
    <vt:vector size="18" baseType="lpstr">
      <vt:lpstr>Arial</vt:lpstr>
      <vt:lpstr>Office テーマ</vt:lpstr>
      <vt:lpstr>予備審査 発表</vt:lpstr>
      <vt:lpstr>テーマ</vt:lpstr>
      <vt:lpstr>目次</vt:lpstr>
      <vt:lpstr>制作①目的・背景</vt:lpstr>
      <vt:lpstr>制作①作品・研究の概要</vt:lpstr>
      <vt:lpstr>制作①作品・研究の概要</vt:lpstr>
      <vt:lpstr>作品①作品・研究の概要</vt:lpstr>
      <vt:lpstr>制作①作品・研究の概要</vt:lpstr>
      <vt:lpstr>制作②目的・背景</vt:lpstr>
      <vt:lpstr>制作②作品・研究の概要</vt:lpstr>
      <vt:lpstr>制作②作品・研究の概要</vt:lpstr>
      <vt:lpstr>制作②作品・研究の概要</vt:lpstr>
      <vt:lpstr>現在までの制作状況 </vt:lpstr>
      <vt:lpstr>これからやること</vt:lpstr>
      <vt:lpstr>今後の流れ </vt:lpstr>
      <vt:lpstr>制作・研究方法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渡辺 眞未</dc:creator>
  <cp:lastModifiedBy>大平　凜音</cp:lastModifiedBy>
  <cp:revision>4</cp:revision>
  <dcterms:created xsi:type="dcterms:W3CDTF">2022-09-01T01:56:56Z</dcterms:created>
  <dcterms:modified xsi:type="dcterms:W3CDTF">2026-10-05T05:50:38Z</dcterms:modified>
</cp:coreProperties>
</file>